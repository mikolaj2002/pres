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</p:sldMasterIdLst>
  <p:notesMasterIdLst>
    <p:notesMasterId r:id="rId20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7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4F81A-EFC7-444D-B1EE-47A9F6ED47D5}" type="datetimeFigureOut">
              <a:rPr lang="de-DE" smtClean="0"/>
              <a:t>19.04.2022</a:t>
            </a:fld>
            <a:endParaRPr lang="de-DE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de-DE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6BE68-A058-4BAC-B20D-6D4CAEA1B9A3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7958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4B07A9-F721-4F52-91D4-725904EE7C92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75613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E0CC-286F-454F-94C6-8D24589F02FA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37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ADC8CC-E74F-44FA-8E01-3461724D5574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04366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6275-56C4-4D48-A474-262121C7DA6E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1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C753B-755D-4447-87D9-FBAE6AF9EABD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49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4E96-6D99-4C75-8AE5-933F8AD4B0CF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41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30E26-3984-46DD-AC34-D4FE8FD22CB2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43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D0A9BC-6B2B-431C-9B2F-816773079B5C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7510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6FE020-B80A-48CE-A5B2-FF2A0372E838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724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7D74-4AA2-4350-9B79-5EC96BFBF779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2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014D-B0D0-4C33-9C53-5923802E129A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8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E859F06-473A-4C93-B205-7BB848CB94E1}" type="datetime1">
              <a:rPr lang="en-US" smtClean="0"/>
              <a:t>4/19/2022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909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1C6F9B-1936-48EA-B47B-8B201E30F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how</a:t>
            </a:r>
            <a:r>
              <a:rPr lang="pl-PL" dirty="0"/>
              <a:t> </a:t>
            </a:r>
            <a:r>
              <a:rPr lang="en-US" dirty="0"/>
              <a:t>computers</a:t>
            </a:r>
            <a:r>
              <a:rPr lang="pl-PL" dirty="0"/>
              <a:t> do </a:t>
            </a:r>
            <a:r>
              <a:rPr lang="en-GB" dirty="0"/>
              <a:t>calculations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D2E6A2A-BA96-4E5B-B340-3AB389C2F8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Krupiński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571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6CE7F1-A032-408E-B660-4446D85BD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Dictionary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F0022D-961F-4763-93FF-C8E44770E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CPU – 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procesor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central processing unit, the part of a computer that controls all the other parts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ALU – 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jednostka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arytmetyczno-logicza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arithmetic logic unit, a combinational digital circuit that performs arithmetic and bitwise operations on integer binary numbers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Logic gate – 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bramka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logiczna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an electronic switch used in computers that reacts in one of two ways to information given to it (returns either 0 or 1)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Carry – 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przeniesienie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while adding in columns: the number that needs to be moved to the next column, because the sum is bigger than 9 (in decimal numeral system)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Integer overflow – (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przepełnienie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occurs when an arithmetic operation attempts to create a numeric value that is outside of the range that can be represented with a given number of digits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BE024B8-A0D8-46BE-BA9B-775D7086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38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56B07B-DD2F-4E32-80F9-28918EAC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CPU – the </a:t>
            </a:r>
            <a:r>
              <a:rPr lang="en-US" dirty="0"/>
              <a:t>heart</a:t>
            </a:r>
            <a:r>
              <a:rPr lang="pl-PL" dirty="0"/>
              <a:t> of </a:t>
            </a:r>
            <a:r>
              <a:rPr lang="pl-PL" dirty="0" err="1"/>
              <a:t>every</a:t>
            </a:r>
            <a:r>
              <a:rPr lang="pl-PL" dirty="0"/>
              <a:t> </a:t>
            </a:r>
            <a:r>
              <a:rPr lang="en-GB" dirty="0"/>
              <a:t>computer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A8B8B3-0F9D-4F36-8178-5D1A2928C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Control Unit</a:t>
            </a:r>
          </a:p>
          <a:p>
            <a:r>
              <a:rPr lang="pl-PL" dirty="0" err="1"/>
              <a:t>Arithetic</a:t>
            </a:r>
            <a:r>
              <a:rPr lang="pl-PL" dirty="0"/>
              <a:t> </a:t>
            </a:r>
            <a:r>
              <a:rPr lang="pl-PL" dirty="0" err="1"/>
              <a:t>Logic</a:t>
            </a:r>
            <a:r>
              <a:rPr lang="pl-PL" dirty="0"/>
              <a:t> Unit</a:t>
            </a:r>
          </a:p>
          <a:p>
            <a:r>
              <a:rPr lang="pl-PL" dirty="0"/>
              <a:t>Memory </a:t>
            </a:r>
            <a:r>
              <a:rPr lang="pl-PL" dirty="0" err="1"/>
              <a:t>Managment</a:t>
            </a:r>
            <a:r>
              <a:rPr lang="pl-PL" dirty="0"/>
              <a:t> Unit</a:t>
            </a:r>
          </a:p>
          <a:p>
            <a:r>
              <a:rPr lang="pl-PL" dirty="0" err="1"/>
              <a:t>Others</a:t>
            </a:r>
            <a:endParaRPr lang="pl-PL" dirty="0"/>
          </a:p>
          <a:p>
            <a:endParaRPr lang="pl-PL" dirty="0"/>
          </a:p>
          <a:p>
            <a:endParaRPr lang="de-DE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F316E70-82F5-47A3-A5A9-9ECEAFB8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2nd Generation Processors - Intel | Mouser">
            <a:extLst>
              <a:ext uri="{FF2B5EF4-FFF2-40B4-BE49-F238E27FC236}">
                <a16:creationId xmlns:a16="http://schemas.microsoft.com/office/drawing/2014/main" id="{1D78FBF9-5A33-4349-811B-A6913B237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484" y="1428750"/>
            <a:ext cx="57150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04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153400-96D5-4D1C-8554-1F18C9A9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ALU – the </a:t>
            </a:r>
            <a:r>
              <a:rPr lang="en-GB" dirty="0"/>
              <a:t>heart</a:t>
            </a:r>
            <a:r>
              <a:rPr lang="pl-PL" dirty="0"/>
              <a:t> of </a:t>
            </a:r>
            <a:r>
              <a:rPr lang="pl-PL" dirty="0" err="1"/>
              <a:t>every</a:t>
            </a:r>
            <a:r>
              <a:rPr lang="pl-PL" dirty="0"/>
              <a:t> </a:t>
            </a:r>
            <a:r>
              <a:rPr lang="en-US" dirty="0"/>
              <a:t>CPU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0C9A3E-A716-440D-AB37-7E1C2E39E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</a:t>
            </a:r>
            <a:r>
              <a:rPr lang="en-US" dirty="0" err="1"/>
              <a:t>operatations</a:t>
            </a:r>
            <a:endParaRPr lang="en-US" dirty="0"/>
          </a:p>
          <a:p>
            <a:r>
              <a:rPr lang="en-US" dirty="0"/>
              <a:t>Logic operations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B258ACF-73CB-44AB-A113-7FCD38E2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 descr="74181 – Wikipedia, wolna encyklopedia">
            <a:extLst>
              <a:ext uri="{FF2B5EF4-FFF2-40B4-BE49-F238E27FC236}">
                <a16:creationId xmlns:a16="http://schemas.microsoft.com/office/drawing/2014/main" id="{99D25B7D-1AAF-47AF-B28F-3BF28B333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171700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EEFD0589-BCEA-478F-8910-D23455E53665}"/>
              </a:ext>
            </a:extLst>
          </p:cNvPr>
          <p:cNvSpPr txBox="1"/>
          <p:nvPr/>
        </p:nvSpPr>
        <p:spPr>
          <a:xfrm>
            <a:off x="6251389" y="5423277"/>
            <a:ext cx="525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Intel 74181 – the </a:t>
            </a:r>
            <a:r>
              <a:rPr lang="en-US" dirty="0"/>
              <a:t>first</a:t>
            </a:r>
            <a:r>
              <a:rPr lang="pl-PL" dirty="0"/>
              <a:t> </a:t>
            </a:r>
            <a:r>
              <a:rPr lang="pl-PL" dirty="0" err="1"/>
              <a:t>complete</a:t>
            </a:r>
            <a:r>
              <a:rPr lang="pl-PL" dirty="0"/>
              <a:t> ALU on a single chip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083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5D2B9A-B92C-4685-96A2-25E18079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Logic</a:t>
            </a:r>
            <a:r>
              <a:rPr lang="pl-PL" dirty="0"/>
              <a:t> Operations and Gates</a:t>
            </a:r>
            <a:endParaRPr lang="de-DE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CE614C7-DF8B-4522-A6B2-09C497B9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AC680E08-DEFC-4EC6-AD7F-04404A151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382387"/>
              </p:ext>
            </p:extLst>
          </p:nvPr>
        </p:nvGraphicFramePr>
        <p:xfrm>
          <a:off x="2031999" y="1987421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8638664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483862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4004043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7069945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540339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02421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AND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XOR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NOT (A)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35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34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4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60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034541"/>
                  </a:ext>
                </a:extLst>
              </a:tr>
            </a:tbl>
          </a:graphicData>
        </a:graphic>
      </p:graphicFrame>
      <p:pic>
        <p:nvPicPr>
          <p:cNvPr id="9" name="Obraz 8">
            <a:extLst>
              <a:ext uri="{FF2B5EF4-FFF2-40B4-BE49-F238E27FC236}">
                <a16:creationId xmlns:a16="http://schemas.microsoft.com/office/drawing/2014/main" id="{13986C42-B9D5-4850-BE76-953C644BC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319" y="4142792"/>
            <a:ext cx="5508122" cy="258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1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34AE78-9290-4129-AD2A-369C507E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How to </a:t>
            </a:r>
            <a:r>
              <a:rPr lang="pl-PL" dirty="0" err="1"/>
              <a:t>add</a:t>
            </a:r>
            <a:r>
              <a:rPr lang="pl-PL" dirty="0"/>
              <a:t> </a:t>
            </a:r>
            <a:r>
              <a:rPr lang="pl-PL" dirty="0" err="1"/>
              <a:t>numbers</a:t>
            </a:r>
            <a:r>
              <a:rPr lang="pl-PL" dirty="0"/>
              <a:t>?</a:t>
            </a:r>
            <a:endParaRPr lang="de-DE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F18D35-56A9-49CE-A9CE-642DEC8A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Binary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 system</a:t>
            </a:r>
          </a:p>
          <a:p>
            <a:pPr lvl="1"/>
            <a:r>
              <a:rPr lang="pl-PL" dirty="0"/>
              <a:t>5 [= 0101]</a:t>
            </a:r>
          </a:p>
          <a:p>
            <a:pPr lvl="1"/>
            <a:r>
              <a:rPr lang="pl-PL" dirty="0"/>
              <a:t>8 [= 1000]</a:t>
            </a:r>
          </a:p>
          <a:p>
            <a:pPr lvl="1"/>
            <a:r>
              <a:rPr lang="pl-PL" dirty="0"/>
              <a:t>5 + 8 = 13 [= 1101]</a:t>
            </a:r>
          </a:p>
          <a:p>
            <a:r>
              <a:rPr lang="pl-PL" dirty="0"/>
              <a:t>Bit by bit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F3E312D-98A4-4F7B-B3D3-D745D691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4D169F16-763D-4648-9E61-7D5520DA6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830808"/>
              </p:ext>
            </p:extLst>
          </p:nvPr>
        </p:nvGraphicFramePr>
        <p:xfrm>
          <a:off x="1490824" y="431800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788450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023000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170145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0645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CARRY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SUM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77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588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30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068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477947"/>
                  </a:ext>
                </a:extLst>
              </a:tr>
            </a:tbl>
          </a:graphicData>
        </a:graphic>
      </p:graphicFrame>
      <p:pic>
        <p:nvPicPr>
          <p:cNvPr id="7" name="Obraz 6">
            <a:extLst>
              <a:ext uri="{FF2B5EF4-FFF2-40B4-BE49-F238E27FC236}">
                <a16:creationId xmlns:a16="http://schemas.microsoft.com/office/drawing/2014/main" id="{C75AC366-D727-4748-B9BE-9BE0F3C5C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03" y="2152377"/>
            <a:ext cx="1452693" cy="179920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E7B52414-0F99-4D3A-A952-E4E0E39DE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189" y="2152377"/>
            <a:ext cx="1452693" cy="1922683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52A00EA6-EEF1-4564-9624-39E6B04503F5}"/>
              </a:ext>
            </a:extLst>
          </p:cNvPr>
          <p:cNvSpPr txBox="1"/>
          <p:nvPr/>
        </p:nvSpPr>
        <p:spPr>
          <a:xfrm>
            <a:off x="8371657" y="2254686"/>
            <a:ext cx="4465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9</a:t>
            </a:r>
          </a:p>
          <a:p>
            <a:endParaRPr lang="pl-PL" dirty="0"/>
          </a:p>
          <a:p>
            <a:r>
              <a:rPr lang="pl-PL" dirty="0"/>
              <a:t>5</a:t>
            </a:r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14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377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6B61F7-8AB9-4CC2-BFA7-8716E7E4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Half </a:t>
            </a:r>
            <a:r>
              <a:rPr lang="en-US" dirty="0"/>
              <a:t>adder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24074DF-CD1D-4A57-A727-03E0ED73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DCF6156-E335-46E2-9483-0C8973B57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11" y="2171700"/>
            <a:ext cx="6157177" cy="35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9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A226E4-0B70-416A-B797-9DA15980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Half </a:t>
            </a:r>
            <a:r>
              <a:rPr lang="pl-PL" dirty="0" err="1"/>
              <a:t>adder</a:t>
            </a:r>
            <a:endParaRPr lang="de-DE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084A810-5206-4585-827F-EC96E2A4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0FC56FD-1AA3-47EF-A978-817A0ABD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605" y="2171700"/>
            <a:ext cx="6521189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98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12998F-2858-46DA-8CF5-FBC90E2B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Full </a:t>
            </a:r>
            <a:r>
              <a:rPr lang="pl-PL" dirty="0" err="1"/>
              <a:t>adder</a:t>
            </a:r>
            <a:endParaRPr lang="de-DE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2CE653E-7462-4A0A-92BF-62829EB6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5BFEAAA-9050-41D1-9870-8DF92304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70" y="2171699"/>
            <a:ext cx="9617065" cy="251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35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03F255-66FF-4B45-B04F-0026E83C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Full </a:t>
            </a:r>
            <a:r>
              <a:rPr lang="pl-PL" dirty="0" err="1"/>
              <a:t>adder</a:t>
            </a: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096A766-0FC3-43AB-AA23-FE64947F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ED1B47AC-DB91-4D72-9952-6C71E3843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11216"/>
              </p:ext>
            </p:extLst>
          </p:nvPr>
        </p:nvGraphicFramePr>
        <p:xfrm>
          <a:off x="2108200" y="1760220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685339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665996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188394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587146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4954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70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73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28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34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67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611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724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629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30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58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84D71A-12CD-4C60-97CC-09DAC8D3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8-bit </a:t>
            </a:r>
            <a:r>
              <a:rPr lang="pl-PL" dirty="0" err="1"/>
              <a:t>adder</a:t>
            </a:r>
            <a:endParaRPr lang="de-DE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81FC7F8-E265-48A2-B9AF-13F6ABF3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F6AD17A-73CB-4420-9F33-A9C52951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28" y="1538486"/>
            <a:ext cx="94488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1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492529-68F4-4C7E-96EC-CBCDD397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8-bit </a:t>
            </a:r>
            <a:r>
              <a:rPr lang="pl-PL" dirty="0" err="1"/>
              <a:t>adder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5AF6DFB-A93D-491C-ACAE-B7EB274E3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l-PL" dirty="0"/>
                  <a:t>Adds </a:t>
                </a:r>
                <a:r>
                  <a:rPr lang="pl-PL" dirty="0" err="1"/>
                  <a:t>numbers</a:t>
                </a:r>
                <a:r>
                  <a:rPr lang="pl-PL" dirty="0"/>
                  <a:t> from 0 to 255 [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pl-PL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l-PL" dirty="0"/>
                  <a:t>]</a:t>
                </a:r>
              </a:p>
              <a:p>
                <a:r>
                  <a:rPr lang="pl-PL" dirty="0" err="1"/>
                  <a:t>What</a:t>
                </a:r>
                <a:r>
                  <a:rPr lang="pl-PL" dirty="0"/>
                  <a:t> </a:t>
                </a:r>
                <a:r>
                  <a:rPr lang="pl-PL" dirty="0" err="1"/>
                  <a:t>about</a:t>
                </a:r>
                <a:r>
                  <a:rPr lang="pl-PL" dirty="0"/>
                  <a:t> 160 + 120?</a:t>
                </a:r>
              </a:p>
              <a:p>
                <a:r>
                  <a:rPr lang="pl-PL" dirty="0"/>
                  <a:t>160 + 120 = 280 &gt; 255</a:t>
                </a:r>
              </a:p>
              <a:p>
                <a:r>
                  <a:rPr lang="pl-PL" dirty="0"/>
                  <a:t>OVERFLOW – the </a:t>
                </a:r>
                <a:r>
                  <a:rPr lang="pl-PL" dirty="0" err="1"/>
                  <a:t>last</a:t>
                </a:r>
                <a:r>
                  <a:rPr lang="pl-PL" dirty="0"/>
                  <a:t> </a:t>
                </a:r>
                <a:r>
                  <a:rPr lang="pl-PL" dirty="0" err="1"/>
                  <a:t>carry</a:t>
                </a:r>
                <a:r>
                  <a:rPr lang="pl-PL" dirty="0"/>
                  <a:t> </a:t>
                </a:r>
                <a:r>
                  <a:rPr lang="pl-PL" dirty="0" err="1"/>
                  <a:t>is</a:t>
                </a:r>
                <a:r>
                  <a:rPr lang="pl-PL" dirty="0"/>
                  <a:t> </a:t>
                </a:r>
                <a:r>
                  <a:rPr lang="pl-PL" dirty="0" err="1"/>
                  <a:t>equal</a:t>
                </a:r>
                <a:r>
                  <a:rPr lang="pl-PL" dirty="0"/>
                  <a:t> 1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5AF6DFB-A93D-491C-ACAE-B7EB274E3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3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DF16083-D533-472F-924B-F9C6A589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16B1FD-2585-40AC-A65E-DA2EA1AA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Basic </a:t>
            </a:r>
            <a:r>
              <a:rPr lang="en-GB" dirty="0"/>
              <a:t>arithmetic operations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1BB02BB-8F12-4A8F-9807-67BB3C6B8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Add</a:t>
            </a:r>
            <a:endParaRPr lang="pl-PL" dirty="0"/>
          </a:p>
          <a:p>
            <a:r>
              <a:rPr lang="pl-PL" dirty="0" err="1"/>
              <a:t>Substract</a:t>
            </a:r>
            <a:endParaRPr lang="pl-PL" dirty="0"/>
          </a:p>
          <a:p>
            <a:r>
              <a:rPr lang="pl-PL" dirty="0" err="1"/>
              <a:t>Negate</a:t>
            </a:r>
            <a:r>
              <a:rPr lang="pl-PL" dirty="0"/>
              <a:t> [A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substracted</a:t>
            </a:r>
            <a:r>
              <a:rPr lang="pl-PL" dirty="0"/>
              <a:t> from 0]</a:t>
            </a:r>
          </a:p>
          <a:p>
            <a:r>
              <a:rPr lang="pl-PL" dirty="0" err="1"/>
              <a:t>Increment</a:t>
            </a:r>
            <a:r>
              <a:rPr lang="pl-PL" dirty="0"/>
              <a:t> [1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added</a:t>
            </a:r>
            <a:r>
              <a:rPr lang="pl-PL" dirty="0"/>
              <a:t> to A]</a:t>
            </a:r>
          </a:p>
          <a:p>
            <a:r>
              <a:rPr lang="pl-PL" dirty="0" err="1"/>
              <a:t>Decrement</a:t>
            </a:r>
            <a:r>
              <a:rPr lang="pl-PL" dirty="0"/>
              <a:t> [1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substracted</a:t>
            </a:r>
            <a:r>
              <a:rPr lang="pl-PL" dirty="0"/>
              <a:t> from A]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9B6E79C-FFB7-4E5B-85BD-44C5DBE0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074" name="Picture 2" descr="Calculator (iOS) | Logopedia | Fandom">
            <a:extLst>
              <a:ext uri="{FF2B5EF4-FFF2-40B4-BE49-F238E27FC236}">
                <a16:creationId xmlns:a16="http://schemas.microsoft.com/office/drawing/2014/main" id="{F118099F-5B15-40AF-8EAE-FF48F386D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012" y="2286000"/>
            <a:ext cx="2466870" cy="246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71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A5A75E-3FEA-4C4E-9D1D-DBB0F210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Logic</a:t>
            </a:r>
            <a:r>
              <a:rPr lang="pl-PL" dirty="0"/>
              <a:t> Unit</a:t>
            </a:r>
            <a:endParaRPr lang="de-DE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AC11A59-D20C-44EC-83C9-0ABBB817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AND, OR, NOT</a:t>
            </a:r>
          </a:p>
          <a:p>
            <a:r>
              <a:rPr lang="pl-PL" dirty="0"/>
              <a:t>Simple </a:t>
            </a:r>
            <a:r>
              <a:rPr lang="pl-PL" dirty="0" err="1"/>
              <a:t>numerical</a:t>
            </a:r>
            <a:r>
              <a:rPr lang="pl-PL" dirty="0"/>
              <a:t> </a:t>
            </a:r>
            <a:r>
              <a:rPr lang="pl-PL" dirty="0" err="1"/>
              <a:t>tests</a:t>
            </a:r>
            <a:endParaRPr lang="pl-PL" dirty="0"/>
          </a:p>
          <a:p>
            <a:pPr lvl="1"/>
            <a:r>
              <a:rPr lang="pl-PL" dirty="0" err="1"/>
              <a:t>Checking</a:t>
            </a:r>
            <a:r>
              <a:rPr lang="pl-PL" dirty="0"/>
              <a:t> </a:t>
            </a:r>
            <a:r>
              <a:rPr lang="pl-PL" dirty="0" err="1"/>
              <a:t>if</a:t>
            </a:r>
            <a:r>
              <a:rPr lang="pl-PL" dirty="0"/>
              <a:t> a </a:t>
            </a:r>
            <a:r>
              <a:rPr lang="pl-PL" dirty="0" err="1"/>
              <a:t>number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negative</a:t>
            </a:r>
            <a:endParaRPr lang="pl-PL" dirty="0"/>
          </a:p>
          <a:p>
            <a:pPr lvl="1"/>
            <a:r>
              <a:rPr lang="pl-PL" dirty="0" err="1"/>
              <a:t>Checking</a:t>
            </a:r>
            <a:r>
              <a:rPr lang="pl-PL" dirty="0"/>
              <a:t> </a:t>
            </a:r>
            <a:r>
              <a:rPr lang="pl-PL" dirty="0" err="1"/>
              <a:t>if</a:t>
            </a:r>
            <a:r>
              <a:rPr lang="pl-PL" dirty="0"/>
              <a:t> a </a:t>
            </a:r>
            <a:r>
              <a:rPr lang="pl-PL" dirty="0" err="1"/>
              <a:t>number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0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EC1EB51-5913-48FF-A6E4-4A0ABC41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0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4A1687-9C93-42C5-9FE9-F00B6E41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 </a:t>
            </a:r>
            <a:r>
              <a:rPr lang="pl-PL" dirty="0" err="1"/>
              <a:t>equal</a:t>
            </a:r>
            <a:r>
              <a:rPr lang="pl-PL" dirty="0"/>
              <a:t> 0?</a:t>
            </a:r>
            <a:endParaRPr lang="de-DE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B9C10A2-FD97-42EC-AB1F-487B763A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A61C77F-D406-4B54-83AB-2FC0DC32E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13" y="1958117"/>
            <a:ext cx="8688173" cy="421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40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9FE6D8-5932-4CF0-B6F4-6B9F68025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Intel 74181</a:t>
            </a:r>
            <a:endParaRPr lang="de-DE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FBD871-F7F9-487A-9B23-BB3E7246D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4-bit </a:t>
            </a:r>
            <a:r>
              <a:rPr lang="pl-PL" dirty="0" err="1"/>
              <a:t>operations</a:t>
            </a:r>
            <a:r>
              <a:rPr lang="pl-PL" dirty="0"/>
              <a:t> – </a:t>
            </a:r>
            <a:r>
              <a:rPr lang="pl-PL" dirty="0" err="1"/>
              <a:t>numbers</a:t>
            </a:r>
            <a:r>
              <a:rPr lang="pl-PL" dirty="0"/>
              <a:t> from 0 to 15 </a:t>
            </a:r>
            <a:r>
              <a:rPr lang="pl-PL" dirty="0" err="1"/>
              <a:t>or</a:t>
            </a:r>
            <a:r>
              <a:rPr lang="pl-PL" dirty="0"/>
              <a:t> from -8 to 7</a:t>
            </a:r>
          </a:p>
          <a:p>
            <a:r>
              <a:rPr lang="pl-PL" dirty="0" err="1"/>
              <a:t>About</a:t>
            </a:r>
            <a:r>
              <a:rPr lang="pl-PL" dirty="0"/>
              <a:t> 70 </a:t>
            </a:r>
            <a:r>
              <a:rPr lang="pl-PL" dirty="0" err="1"/>
              <a:t>logic</a:t>
            </a:r>
            <a:r>
              <a:rPr lang="pl-PL" dirty="0"/>
              <a:t> </a:t>
            </a:r>
            <a:r>
              <a:rPr lang="pl-PL" dirty="0" err="1"/>
              <a:t>gates</a:t>
            </a:r>
            <a:endParaRPr lang="pl-PL" dirty="0"/>
          </a:p>
          <a:p>
            <a:r>
              <a:rPr lang="pl-PL" dirty="0"/>
              <a:t>No </a:t>
            </a:r>
            <a:r>
              <a:rPr lang="pl-PL" dirty="0" err="1"/>
              <a:t>multiplication</a:t>
            </a:r>
            <a:r>
              <a:rPr lang="pl-PL" dirty="0"/>
              <a:t> and </a:t>
            </a:r>
            <a:r>
              <a:rPr lang="pl-PL" dirty="0" err="1"/>
              <a:t>division</a:t>
            </a: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A268C8C-3CE0-43F1-986E-98094E60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50" name="Picture 2" descr="74181 - Wikipedia">
            <a:extLst>
              <a:ext uri="{FF2B5EF4-FFF2-40B4-BE49-F238E27FC236}">
                <a16:creationId xmlns:a16="http://schemas.microsoft.com/office/drawing/2014/main" id="{3904A49C-C55C-4CA3-B2B8-865761B4A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260" y="2906005"/>
            <a:ext cx="4073768" cy="307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15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3655D6-331E-4118-8292-DBAF8C22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Summary</a:t>
            </a:r>
            <a:endParaRPr lang="de-DE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AD86C0-05F2-470E-A214-B14522BEC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ALU is responsible for every arithmetic and logic operation in the computer</a:t>
            </a:r>
          </a:p>
          <a:p>
            <a:r>
              <a:rPr lang="en-GB" dirty="0"/>
              <a:t>ALU uses logic gates that implement basic logic operations</a:t>
            </a:r>
          </a:p>
          <a:p>
            <a:r>
              <a:rPr lang="en-GB" dirty="0"/>
              <a:t>Computers add numbers in column, in order to add 8-bit numbers we need 1 half adder and 7 full-adders</a:t>
            </a:r>
          </a:p>
          <a:p>
            <a:r>
              <a:rPr lang="en-GB" dirty="0"/>
              <a:t>Overflow happens when the </a:t>
            </a:r>
            <a:r>
              <a:rPr lang="pl-PL" dirty="0"/>
              <a:t>sum</a:t>
            </a:r>
            <a:r>
              <a:rPr lang="en-GB" dirty="0"/>
              <a:t> is bigger than the biggest </a:t>
            </a:r>
            <a:r>
              <a:rPr lang="en-GB" dirty="0" err="1"/>
              <a:t>num</a:t>
            </a:r>
            <a:r>
              <a:rPr lang="pl-PL"/>
              <a:t>b</a:t>
            </a:r>
            <a:r>
              <a:rPr lang="en-GB"/>
              <a:t>er </a:t>
            </a:r>
            <a:r>
              <a:rPr lang="en-GB" dirty="0"/>
              <a:t>we can store</a:t>
            </a:r>
          </a:p>
          <a:p>
            <a:r>
              <a:rPr lang="en-GB" dirty="0"/>
              <a:t>ALU provides also more complex logic operations like checking if </a:t>
            </a:r>
            <a:r>
              <a:rPr lang="en-GB" dirty="0" err="1"/>
              <a:t>numer</a:t>
            </a:r>
            <a:r>
              <a:rPr lang="en-GB" dirty="0"/>
              <a:t> is equal 0 or negative</a:t>
            </a:r>
          </a:p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87707F-E728-487B-BCA3-1E605BC2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63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D7FD6C-7FCB-40D4-94AB-0D40EC36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Questions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B75058-4D1E-4F19-BB0A-7640F8D9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When was the first complete ALU on a single chip introduced? Which company did introduce it?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can we detect overflow during integer addition?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 you know how negative numbers are stored and computed in the computer? If you don’t, read about the “Two’s complement”.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8914559-7773-4FA1-AA79-65544733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050" name="Picture 2" descr="question mark – Wikisłownik, wolny słownik wielojęzyczny">
            <a:extLst>
              <a:ext uri="{FF2B5EF4-FFF2-40B4-BE49-F238E27FC236}">
                <a16:creationId xmlns:a16="http://schemas.microsoft.com/office/drawing/2014/main" id="{5ADCD0AE-351E-4DD8-873A-9222410A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756" y="3913749"/>
            <a:ext cx="2246644" cy="224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60112"/>
      </p:ext>
    </p:extLst>
  </p:cSld>
  <p:clrMapOvr>
    <a:masterClrMapping/>
  </p:clrMapOvr>
</p:sld>
</file>

<file path=ppt/theme/theme1.xml><?xml version="1.0" encoding="utf-8"?>
<a:theme xmlns:a="http://schemas.openxmlformats.org/drawingml/2006/main" name="Przycinanie">
  <a:themeElements>
    <a:clrScheme name="Przycinani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Przycinani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rzycinani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TM10001105[[fn=Przycinanie]]</Template>
  <TotalTime>394</TotalTime>
  <Words>589</Words>
  <Application>Microsoft Office PowerPoint</Application>
  <PresentationFormat>Panoramiczny</PresentationFormat>
  <Paragraphs>178</Paragraphs>
  <Slides>18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Franklin Gothic Book</vt:lpstr>
      <vt:lpstr>Symbol</vt:lpstr>
      <vt:lpstr>Przycinanie</vt:lpstr>
      <vt:lpstr>how computers do calculations</vt:lpstr>
      <vt:lpstr>Dictionary</vt:lpstr>
      <vt:lpstr>CPU – the heart of every computer</vt:lpstr>
      <vt:lpstr>ALU – the heart of every CPU</vt:lpstr>
      <vt:lpstr>Logic Operations and Gates</vt:lpstr>
      <vt:lpstr>How to add numbers?</vt:lpstr>
      <vt:lpstr>Half adder</vt:lpstr>
      <vt:lpstr>Half adder</vt:lpstr>
      <vt:lpstr>Full adder</vt:lpstr>
      <vt:lpstr>Full adder</vt:lpstr>
      <vt:lpstr>8-bit adder</vt:lpstr>
      <vt:lpstr>8-bit adder</vt:lpstr>
      <vt:lpstr>Basic arithmetic operations</vt:lpstr>
      <vt:lpstr>Logic Unit</vt:lpstr>
      <vt:lpstr>Is number equal 0?</vt:lpstr>
      <vt:lpstr>Intel 74181</vt:lpstr>
      <vt:lpstr>Summary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make a computer</dc:title>
  <dc:creator>Mikołaj Krupiński (268417)</dc:creator>
  <cp:lastModifiedBy>Mikołaj Krupiński (268417)</cp:lastModifiedBy>
  <cp:revision>98</cp:revision>
  <dcterms:created xsi:type="dcterms:W3CDTF">2022-04-16T14:18:55Z</dcterms:created>
  <dcterms:modified xsi:type="dcterms:W3CDTF">2022-04-19T18:18:23Z</dcterms:modified>
</cp:coreProperties>
</file>